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55951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Presenta: Tester y pitch (15 s). No saluden ni se presenten uno por uno. Lean la escena despacio: Domingo, 11 de la noche. Yoana tiene examen mañana, lleva tres noches desvelándose con el celular y piensa: no sé qué me pasa. Pausa. Tiburones: ¿cuántas Yoanas no notan a tiempo que algo está cambiando? Somos Pulso.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Presenta: conductor (maneja, no habla) + narrador (3 min). Nunca digan «aquí le doy clic». 0:00 Esto no es un diseño: está publicado, pueden abrirlo en su celular. 0:20 Yoana abre Pulso y en segundos le pone nombre a lo que siente: ansiedad, 7 de 10; también podría decirlo con la voz. 1:10 La IA no le da un diagnóstico: le da una pausa y un paso pequeño, pensado para su emoción, su hora y sus gustos; con intensidad alta solo propone actividades suaves. 2:00 Lo que vieron se guardó: en Progreso está su semana. 2:40 Momento wow: Pulso cruzó su uso del teléfono (simulado) con su horario y notó que desde el lunes se desvela; no la etiqueta, le dice «notamos cambios importantes». Si falla internet, usen estas capturas.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Presenta: líder clínico (2 min). 0:00 Frase del freno: Pulso acompaña, pero sabe cuándo frenar. 0:15 Las 3 promesas, señalando la pantalla: datos ficticios; apoya y no diagnostica (dice «notamos cambios importantes», nunca «tienes ansiedad»); deriva (con nivel medio o alto sugiere hablar con un profesional). 1:15 Lo que NO hace: no diagnostica, no reemplaza a un psicólogo, no usa datos reales y no guarda la ubicación. 1:45 Quién lo revisó: digan el nombre del mentor; los umbrales son heurísticos y deben validarse con un profesional. Nunca digan «la app detecta la depresión».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2251FF"/>
                </a:solidFill>
                <a:latin typeface="Calibri"/>
              </a:rPr>
              <a:t>HACKATHON DE SALUD MENTAL CON IA · UCV · RETO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051C2C"/>
                </a:solidFill>
                <a:latin typeface="Trebuchet MS"/>
              </a:rPr>
              <a:t>Pulso</a:t>
            </a:r>
          </a:p>
          <a:p>
            <a:pPr>
              <a:spcAft>
                <a:spcPts val="600"/>
              </a:spcAft>
            </a:pPr>
            <a:r>
              <a:rPr sz="2800" b="0" i="0">
                <a:solidFill>
                  <a:srgbClr val="051C2C"/>
                </a:solidFill>
                <a:latin typeface="Trebuchet MS"/>
              </a:rPr>
              <a:t>Darse cuenta a tiempo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 i="1">
                <a:solidFill>
                  <a:srgbClr val="051C2C"/>
                </a:solidFill>
                <a:latin typeface="Calibri"/>
              </a:rPr>
              <a:t>Domingo, 11 de la noche. Yoana tiene examen mañana, lleva tres noches desvelándose con el celular y piensa: «no sé qué me pasa».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2251FF"/>
                </a:solidFill>
                <a:latin typeface="Calibri"/>
              </a:rPr>
              <a:t>Tiburones: ¿cuántas Yoanas no notan a tiempo que algo está cambiando? Somos Pulso.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5B6B7F"/>
                </a:solidFill>
                <a:latin typeface="Calibri"/>
              </a:rPr>
              <a:t>Equipo Pulso · Persona y datos ficticios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B6B7F"/>
                </a:solidFill>
                <a:latin typeface="Calibri"/>
              </a:rPr>
              <a:t>Hackathon de Salud Mental con IA · UCV · Pitch del equipo</a:t>
            </a:r>
          </a:p>
        </p:txBody>
      </p:sp>
      <p:pic>
        <p:nvPicPr>
          <p:cNvPr id="6" name="Picture 5" descr="yoana-abraz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0000" y="900000"/>
            <a:ext cx="3096367" cy="280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2251FF"/>
                </a:solidFill>
                <a:latin typeface="Calibri"/>
              </a:rPr>
              <a:t>PARTE 1 · 45 SEGUNDOS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51C2C"/>
                </a:solidFill>
                <a:latin typeface="Trebuchet MS"/>
              </a:rPr>
              <a:t>El problema y a quién ayudamos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B6B7F"/>
                </a:solidFill>
                <a:latin typeface="Calibri"/>
              </a:rPr>
              <a:t>Hackathon de Salud Mental con IA · UCV · Pitch del equipo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5B6B7F"/>
                </a:solidFill>
                <a:latin typeface="Calibri"/>
              </a:rPr>
              <a:t>2/5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4754880" cy="4754880"/>
          </a:xfrm>
          <a:prstGeom prst="roundRect">
            <a:avLst>
              <a:gd name="adj" fmla="val 6000"/>
            </a:avLst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29768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 dirty="0" err="1">
                <a:solidFill>
                  <a:srgbClr val="2251FF"/>
                </a:solidFill>
                <a:latin typeface="Calibri"/>
              </a:rPr>
              <a:t>Presenta</a:t>
            </a:r>
            <a:r>
              <a:rPr sz="1600" b="1" i="0" dirty="0">
                <a:solidFill>
                  <a:srgbClr val="2251FF"/>
                </a:solidFill>
                <a:latin typeface="Calibri"/>
              </a:rPr>
              <a:t>: </a:t>
            </a:r>
            <a:r>
              <a:rPr lang="es-ES" sz="1600" b="1" i="0" dirty="0">
                <a:solidFill>
                  <a:srgbClr val="2251FF"/>
                </a:solidFill>
                <a:latin typeface="Calibri"/>
              </a:rPr>
              <a:t>Maritza De La Cruz </a:t>
            </a:r>
            <a:r>
              <a:rPr sz="1600" b="1" i="0" dirty="0">
                <a:solidFill>
                  <a:srgbClr val="2251FF"/>
                </a:solidFill>
                <a:latin typeface="Calibri"/>
              </a:rPr>
              <a:t>(tester y pitch)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429768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 i="0" dirty="0">
                <a:solidFill>
                  <a:srgbClr val="051C2C"/>
                </a:solidFill>
                <a:latin typeface="Calibri"/>
              </a:rPr>
              <a:t>Yoana, 21 </a:t>
            </a:r>
            <a:r>
              <a:rPr sz="1500" b="1" i="0" dirty="0" err="1">
                <a:solidFill>
                  <a:srgbClr val="051C2C"/>
                </a:solidFill>
                <a:latin typeface="Calibri"/>
              </a:rPr>
              <a:t>años</a:t>
            </a:r>
            <a:r>
              <a:rPr sz="1500" b="1" i="0" dirty="0">
                <a:solidFill>
                  <a:srgbClr val="051C2C"/>
                </a:solidFill>
                <a:latin typeface="Calibri"/>
              </a:rPr>
              <a:t> · persona </a:t>
            </a:r>
            <a:r>
              <a:rPr sz="1500" b="1" i="0" dirty="0" err="1">
                <a:solidFill>
                  <a:srgbClr val="051C2C"/>
                </a:solidFill>
                <a:latin typeface="Calibri"/>
              </a:rPr>
              <a:t>ficticia</a:t>
            </a:r>
            <a:endParaRPr sz="1500" b="1" i="0" dirty="0">
              <a:solidFill>
                <a:srgbClr val="051C2C"/>
              </a:solidFill>
              <a:latin typeface="Calibri"/>
            </a:endParaRPr>
          </a:p>
          <a:p>
            <a:pPr>
              <a:spcAft>
                <a:spcPts val="700"/>
              </a:spcAft>
            </a:pPr>
            <a:r>
              <a:rPr sz="1500" b="1" i="0" dirty="0" err="1">
                <a:solidFill>
                  <a:srgbClr val="051C2C"/>
                </a:solidFill>
                <a:latin typeface="Calibri"/>
              </a:rPr>
              <a:t>Perfil</a:t>
            </a:r>
            <a:r>
              <a:rPr sz="1500" b="1" i="0" dirty="0">
                <a:solidFill>
                  <a:srgbClr val="051C2C"/>
                </a:solidFill>
                <a:latin typeface="Calibri"/>
              </a:rPr>
              <a:t>: </a:t>
            </a:r>
            <a:r>
              <a:rPr sz="1500" b="0" i="0" dirty="0" err="1">
                <a:solidFill>
                  <a:srgbClr val="2B3A4A"/>
                </a:solidFill>
                <a:latin typeface="Calibri"/>
              </a:rPr>
              <a:t>universitaria</a:t>
            </a:r>
            <a:r>
              <a:rPr sz="1500" b="0" i="0" dirty="0">
                <a:solidFill>
                  <a:srgbClr val="2B3A4A"/>
                </a:solidFill>
                <a:latin typeface="Calibri"/>
              </a:rPr>
              <a:t> que </a:t>
            </a:r>
            <a:r>
              <a:rPr sz="1500" b="0" i="0" dirty="0" err="1">
                <a:solidFill>
                  <a:srgbClr val="2B3A4A"/>
                </a:solidFill>
                <a:latin typeface="Calibri"/>
              </a:rPr>
              <a:t>combina</a:t>
            </a:r>
            <a:r>
              <a:rPr sz="1500" b="0" i="0" dirty="0">
                <a:solidFill>
                  <a:srgbClr val="2B3A4A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2B3A4A"/>
                </a:solidFill>
                <a:latin typeface="Calibri"/>
              </a:rPr>
              <a:t>estudios</a:t>
            </a:r>
            <a:r>
              <a:rPr sz="1500" b="0" i="0" dirty="0">
                <a:solidFill>
                  <a:srgbClr val="2B3A4A"/>
                </a:solidFill>
                <a:latin typeface="Calibri"/>
              </a:rPr>
              <a:t> y </a:t>
            </a:r>
            <a:r>
              <a:rPr sz="1500" b="0" i="0" dirty="0" err="1">
                <a:solidFill>
                  <a:srgbClr val="2B3A4A"/>
                </a:solidFill>
                <a:latin typeface="Calibri"/>
              </a:rPr>
              <a:t>responsabilidades</a:t>
            </a:r>
            <a:r>
              <a:rPr sz="1500" b="0" i="0" dirty="0">
                <a:solidFill>
                  <a:srgbClr val="2B3A4A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2B3A4A"/>
                </a:solidFill>
                <a:latin typeface="Calibri"/>
              </a:rPr>
              <a:t>personales</a:t>
            </a:r>
            <a:r>
              <a:rPr sz="1500" b="0" i="0" dirty="0">
                <a:solidFill>
                  <a:srgbClr val="2B3A4A"/>
                </a:solidFill>
                <a:latin typeface="Calibri"/>
              </a:rPr>
              <a:t>.</a:t>
            </a:r>
          </a:p>
          <a:p>
            <a:pPr>
              <a:spcAft>
                <a:spcPts val="700"/>
              </a:spcAft>
            </a:pPr>
            <a:r>
              <a:rPr sz="1500" b="1" i="0" dirty="0">
                <a:solidFill>
                  <a:srgbClr val="051C2C"/>
                </a:solidFill>
                <a:latin typeface="Calibri"/>
              </a:rPr>
              <a:t>Le frustra: </a:t>
            </a:r>
            <a:r>
              <a:rPr sz="1500" b="0" i="0" dirty="0" err="1">
                <a:solidFill>
                  <a:srgbClr val="2B3A4A"/>
                </a:solidFill>
                <a:latin typeface="Calibri"/>
              </a:rPr>
              <a:t>sentirse</a:t>
            </a:r>
            <a:r>
              <a:rPr sz="1500" b="0" i="0" dirty="0">
                <a:solidFill>
                  <a:srgbClr val="2B3A4A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2B3A4A"/>
                </a:solidFill>
                <a:latin typeface="Calibri"/>
              </a:rPr>
              <a:t>abrumada</a:t>
            </a:r>
            <a:r>
              <a:rPr sz="1500" b="0" i="0" dirty="0">
                <a:solidFill>
                  <a:srgbClr val="2B3A4A"/>
                </a:solidFill>
                <a:latin typeface="Calibri"/>
              </a:rPr>
              <a:t> y no </a:t>
            </a:r>
            <a:r>
              <a:rPr sz="1500" b="0" i="0" dirty="0" err="1">
                <a:solidFill>
                  <a:srgbClr val="2B3A4A"/>
                </a:solidFill>
                <a:latin typeface="Calibri"/>
              </a:rPr>
              <a:t>tener</a:t>
            </a:r>
            <a:r>
              <a:rPr sz="1500" b="0" i="0" dirty="0">
                <a:solidFill>
                  <a:srgbClr val="2B3A4A"/>
                </a:solidFill>
                <a:latin typeface="Calibri"/>
              </a:rPr>
              <a:t> a </a:t>
            </a:r>
            <a:r>
              <a:rPr sz="1500" b="0" i="0" dirty="0" err="1">
                <a:solidFill>
                  <a:srgbClr val="2B3A4A"/>
                </a:solidFill>
                <a:latin typeface="Calibri"/>
              </a:rPr>
              <a:t>quién</a:t>
            </a:r>
            <a:r>
              <a:rPr sz="1500" b="0" i="0" dirty="0">
                <a:solidFill>
                  <a:srgbClr val="2B3A4A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2B3A4A"/>
                </a:solidFill>
                <a:latin typeface="Calibri"/>
              </a:rPr>
              <a:t>acudir</a:t>
            </a:r>
            <a:r>
              <a:rPr sz="1500" b="0" i="0" dirty="0">
                <a:solidFill>
                  <a:srgbClr val="2B3A4A"/>
                </a:solidFill>
                <a:latin typeface="Calibri"/>
              </a:rPr>
              <a:t>.</a:t>
            </a:r>
          </a:p>
          <a:p>
            <a:pPr>
              <a:spcAft>
                <a:spcPts val="700"/>
              </a:spcAft>
            </a:pPr>
            <a:r>
              <a:rPr sz="1500" b="1" i="0" dirty="0">
                <a:solidFill>
                  <a:srgbClr val="051C2C"/>
                </a:solidFill>
                <a:latin typeface="Calibri"/>
              </a:rPr>
              <a:t>Le </a:t>
            </a:r>
            <a:r>
              <a:rPr sz="1500" b="1" i="0" dirty="0" err="1">
                <a:solidFill>
                  <a:srgbClr val="051C2C"/>
                </a:solidFill>
                <a:latin typeface="Calibri"/>
              </a:rPr>
              <a:t>motiva</a:t>
            </a:r>
            <a:r>
              <a:rPr sz="1500" b="1" i="0" dirty="0">
                <a:solidFill>
                  <a:srgbClr val="051C2C"/>
                </a:solidFill>
                <a:latin typeface="Calibri"/>
              </a:rPr>
              <a:t>: </a:t>
            </a:r>
            <a:r>
              <a:rPr sz="1500" b="0" i="0" dirty="0" err="1">
                <a:solidFill>
                  <a:srgbClr val="2B3A4A"/>
                </a:solidFill>
                <a:latin typeface="Calibri"/>
              </a:rPr>
              <a:t>sentirse</a:t>
            </a:r>
            <a:r>
              <a:rPr sz="1500" b="0" i="0" dirty="0">
                <a:solidFill>
                  <a:srgbClr val="2B3A4A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2B3A4A"/>
                </a:solidFill>
                <a:latin typeface="Calibri"/>
              </a:rPr>
              <a:t>tranquila</a:t>
            </a:r>
            <a:r>
              <a:rPr sz="1500" b="0" i="0" dirty="0">
                <a:solidFill>
                  <a:srgbClr val="2B3A4A"/>
                </a:solidFill>
                <a:latin typeface="Calibri"/>
              </a:rPr>
              <a:t> y </a:t>
            </a:r>
            <a:r>
              <a:rPr sz="1500" b="0" i="0" dirty="0" err="1">
                <a:solidFill>
                  <a:srgbClr val="2B3A4A"/>
                </a:solidFill>
                <a:latin typeface="Calibri"/>
              </a:rPr>
              <a:t>cumplir</a:t>
            </a:r>
            <a:r>
              <a:rPr sz="1500" b="0" i="0" dirty="0">
                <a:solidFill>
                  <a:srgbClr val="2B3A4A"/>
                </a:solidFill>
                <a:latin typeface="Calibri"/>
              </a:rPr>
              <a:t> sus </a:t>
            </a:r>
            <a:r>
              <a:rPr sz="1500" b="0" i="0" dirty="0" err="1">
                <a:solidFill>
                  <a:srgbClr val="2B3A4A"/>
                </a:solidFill>
                <a:latin typeface="Calibri"/>
              </a:rPr>
              <a:t>metas</a:t>
            </a:r>
            <a:r>
              <a:rPr sz="1500" b="0" i="0" dirty="0">
                <a:solidFill>
                  <a:srgbClr val="2B3A4A"/>
                </a:solidFill>
                <a:latin typeface="Calibri"/>
              </a:rPr>
              <a:t>.</a:t>
            </a:r>
          </a:p>
          <a:p>
            <a:pPr>
              <a:spcAft>
                <a:spcPts val="700"/>
              </a:spcAft>
            </a:pPr>
            <a:r>
              <a:rPr sz="1500" b="1" i="0" dirty="0" err="1">
                <a:solidFill>
                  <a:srgbClr val="2251FF"/>
                </a:solidFill>
                <a:latin typeface="Calibri"/>
              </a:rPr>
              <a:t>Yo</a:t>
            </a:r>
            <a:r>
              <a:rPr sz="1500" b="1" i="0" dirty="0">
                <a:solidFill>
                  <a:srgbClr val="2251FF"/>
                </a:solidFill>
                <a:latin typeface="Calibri"/>
              </a:rPr>
              <a:t>, </a:t>
            </a:r>
            <a:r>
              <a:rPr sz="1500" b="1" i="0" dirty="0" err="1">
                <a:solidFill>
                  <a:srgbClr val="2251FF"/>
                </a:solidFill>
                <a:latin typeface="Calibri"/>
              </a:rPr>
              <a:t>como</a:t>
            </a:r>
            <a:r>
              <a:rPr sz="1500" b="1" i="0" dirty="0">
                <a:solidFill>
                  <a:srgbClr val="2251FF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2B3A4A"/>
                </a:solidFill>
                <a:latin typeface="Calibri"/>
              </a:rPr>
              <a:t>estudiante</a:t>
            </a:r>
            <a:r>
              <a:rPr sz="1500" b="0" i="0" dirty="0">
                <a:solidFill>
                  <a:srgbClr val="2B3A4A"/>
                </a:solidFill>
                <a:latin typeface="Calibri"/>
              </a:rPr>
              <a:t> con </a:t>
            </a:r>
            <a:r>
              <a:rPr sz="1500" b="0" i="0" dirty="0" err="1">
                <a:solidFill>
                  <a:srgbClr val="2B3A4A"/>
                </a:solidFill>
                <a:latin typeface="Calibri"/>
              </a:rPr>
              <a:t>estrés</a:t>
            </a:r>
            <a:r>
              <a:rPr sz="1500" b="0" i="0" dirty="0">
                <a:solidFill>
                  <a:srgbClr val="2B3A4A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2B3A4A"/>
                </a:solidFill>
                <a:latin typeface="Calibri"/>
              </a:rPr>
              <a:t>por</a:t>
            </a:r>
            <a:r>
              <a:rPr sz="1500" b="0" i="0" dirty="0">
                <a:solidFill>
                  <a:srgbClr val="2B3A4A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2B3A4A"/>
                </a:solidFill>
                <a:latin typeface="Calibri"/>
              </a:rPr>
              <a:t>tareas</a:t>
            </a:r>
            <a:r>
              <a:rPr sz="1500" b="0" i="0" dirty="0">
                <a:solidFill>
                  <a:srgbClr val="2B3A4A"/>
                </a:solidFill>
                <a:latin typeface="Calibri"/>
              </a:rPr>
              <a:t> y </a:t>
            </a:r>
            <a:r>
              <a:rPr sz="1500" b="0" i="0" dirty="0" err="1">
                <a:solidFill>
                  <a:srgbClr val="2B3A4A"/>
                </a:solidFill>
                <a:latin typeface="Calibri"/>
              </a:rPr>
              <a:t>exámenes</a:t>
            </a:r>
            <a:r>
              <a:rPr sz="1500" b="0" i="0" dirty="0">
                <a:solidFill>
                  <a:srgbClr val="2B3A4A"/>
                </a:solidFill>
                <a:latin typeface="Calibri"/>
              </a:rPr>
              <a:t>, </a:t>
            </a:r>
            <a:r>
              <a:rPr sz="1500" b="1" i="0" dirty="0" err="1">
                <a:solidFill>
                  <a:srgbClr val="2251FF"/>
                </a:solidFill>
                <a:latin typeface="Calibri"/>
              </a:rPr>
              <a:t>necesito</a:t>
            </a:r>
            <a:r>
              <a:rPr sz="1500" b="1" i="0" dirty="0">
                <a:solidFill>
                  <a:srgbClr val="2251FF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2B3A4A"/>
                </a:solidFill>
                <a:latin typeface="Calibri"/>
              </a:rPr>
              <a:t>darme</a:t>
            </a:r>
            <a:r>
              <a:rPr sz="1500" b="0" i="0" dirty="0">
                <a:solidFill>
                  <a:srgbClr val="2B3A4A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2B3A4A"/>
                </a:solidFill>
                <a:latin typeface="Calibri"/>
              </a:rPr>
              <a:t>cuenta</a:t>
            </a:r>
            <a:r>
              <a:rPr sz="1500" b="0" i="0" dirty="0">
                <a:solidFill>
                  <a:srgbClr val="2B3A4A"/>
                </a:solidFill>
                <a:latin typeface="Calibri"/>
              </a:rPr>
              <a:t> a </a:t>
            </a:r>
            <a:r>
              <a:rPr sz="1500" b="0" i="0" dirty="0" err="1">
                <a:solidFill>
                  <a:srgbClr val="2B3A4A"/>
                </a:solidFill>
                <a:latin typeface="Calibri"/>
              </a:rPr>
              <a:t>tiempo</a:t>
            </a:r>
            <a:r>
              <a:rPr sz="1500" b="0" i="0" dirty="0">
                <a:solidFill>
                  <a:srgbClr val="2B3A4A"/>
                </a:solidFill>
                <a:latin typeface="Calibri"/>
              </a:rPr>
              <a:t> de mis </a:t>
            </a:r>
            <a:r>
              <a:rPr sz="1500" b="0" i="0" dirty="0" err="1">
                <a:solidFill>
                  <a:srgbClr val="2B3A4A"/>
                </a:solidFill>
                <a:latin typeface="Calibri"/>
              </a:rPr>
              <a:t>cambios</a:t>
            </a:r>
            <a:r>
              <a:rPr sz="1500" b="0" i="0" dirty="0">
                <a:solidFill>
                  <a:srgbClr val="2B3A4A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2B3A4A"/>
                </a:solidFill>
                <a:latin typeface="Calibri"/>
              </a:rPr>
              <a:t>emocionales</a:t>
            </a:r>
            <a:r>
              <a:rPr sz="1500" b="0" i="0" dirty="0">
                <a:solidFill>
                  <a:srgbClr val="2B3A4A"/>
                </a:solidFill>
                <a:latin typeface="Calibri"/>
              </a:rPr>
              <a:t>, </a:t>
            </a:r>
            <a:r>
              <a:rPr sz="1500" b="1" i="0" dirty="0" err="1">
                <a:solidFill>
                  <a:srgbClr val="2251FF"/>
                </a:solidFill>
                <a:latin typeface="Calibri"/>
              </a:rPr>
              <a:t>porque</a:t>
            </a:r>
            <a:r>
              <a:rPr sz="1500" b="1" i="0" dirty="0">
                <a:solidFill>
                  <a:srgbClr val="2251FF"/>
                </a:solidFill>
                <a:latin typeface="Calibri"/>
              </a:rPr>
              <a:t> </a:t>
            </a:r>
            <a:r>
              <a:rPr sz="1500" b="0" i="0" dirty="0">
                <a:solidFill>
                  <a:srgbClr val="2B3A4A"/>
                </a:solidFill>
                <a:latin typeface="Calibri"/>
              </a:rPr>
              <a:t>no </a:t>
            </a:r>
            <a:r>
              <a:rPr sz="1500" b="0" i="0" dirty="0" err="1">
                <a:solidFill>
                  <a:srgbClr val="2B3A4A"/>
                </a:solidFill>
                <a:latin typeface="Calibri"/>
              </a:rPr>
              <a:t>veo</a:t>
            </a:r>
            <a:r>
              <a:rPr sz="1500" b="0" i="0" dirty="0">
                <a:solidFill>
                  <a:srgbClr val="2B3A4A"/>
                </a:solidFill>
                <a:latin typeface="Calibri"/>
              </a:rPr>
              <a:t> las </a:t>
            </a:r>
            <a:r>
              <a:rPr sz="1500" b="0" i="0" dirty="0" err="1">
                <a:solidFill>
                  <a:srgbClr val="2B3A4A"/>
                </a:solidFill>
                <a:latin typeface="Calibri"/>
              </a:rPr>
              <a:t>señales</a:t>
            </a:r>
            <a:r>
              <a:rPr sz="1500" b="0" i="0" dirty="0">
                <a:solidFill>
                  <a:srgbClr val="2B3A4A"/>
                </a:solidFill>
                <a:latin typeface="Calibri"/>
              </a:rPr>
              <a:t> hasta que </a:t>
            </a:r>
            <a:r>
              <a:rPr sz="1500" b="0" i="0" dirty="0" err="1">
                <a:solidFill>
                  <a:srgbClr val="2B3A4A"/>
                </a:solidFill>
                <a:latin typeface="Calibri"/>
              </a:rPr>
              <a:t>ya</a:t>
            </a:r>
            <a:r>
              <a:rPr sz="1500" b="0" i="0" dirty="0">
                <a:solidFill>
                  <a:srgbClr val="2B3A4A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2B3A4A"/>
                </a:solidFill>
                <a:latin typeface="Calibri"/>
              </a:rPr>
              <a:t>afectan</a:t>
            </a:r>
            <a:r>
              <a:rPr sz="1500" b="0" i="0" dirty="0">
                <a:solidFill>
                  <a:srgbClr val="2B3A4A"/>
                </a:solidFill>
                <a:latin typeface="Calibri"/>
              </a:rPr>
              <a:t> mis </a:t>
            </a:r>
            <a:r>
              <a:rPr sz="1500" b="0" i="0" dirty="0" err="1">
                <a:solidFill>
                  <a:srgbClr val="2B3A4A"/>
                </a:solidFill>
                <a:latin typeface="Calibri"/>
              </a:rPr>
              <a:t>estudios</a:t>
            </a:r>
            <a:r>
              <a:rPr sz="1500" b="0" i="0" dirty="0">
                <a:solidFill>
                  <a:srgbClr val="2B3A4A"/>
                </a:solidFill>
                <a:latin typeface="Calibri"/>
              </a:rPr>
              <a:t> y mi </a:t>
            </a:r>
            <a:r>
              <a:rPr sz="1500" b="0" i="0" dirty="0" err="1">
                <a:solidFill>
                  <a:srgbClr val="2B3A4A"/>
                </a:solidFill>
                <a:latin typeface="Calibri"/>
              </a:rPr>
              <a:t>vida</a:t>
            </a:r>
            <a:r>
              <a:rPr sz="1500" b="0" i="0" dirty="0">
                <a:solidFill>
                  <a:srgbClr val="2B3A4A"/>
                </a:solidFill>
                <a:latin typeface="Calibri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1463040"/>
            <a:ext cx="6035040" cy="4754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9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yoana-abraz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3054" y="1613040"/>
            <a:ext cx="2764613" cy="2500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27840" y="4233040"/>
            <a:ext cx="5335040" cy="19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1">
                <a:solidFill>
                  <a:srgbClr val="5B6B7F"/>
                </a:solidFill>
                <a:latin typeface="Calibri"/>
              </a:rPr>
              <a:t>«Quiero sentirme mejor conmigo misma, aprender a manejar mis emociones y encontrar la calma incluso en los días más difíciles.»</a:t>
            </a:r>
          </a:p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2251FF"/>
                </a:solidFill>
                <a:latin typeface="Calibri"/>
              </a:rPr>
              <a:t>INSIGHT</a:t>
            </a:r>
          </a:p>
          <a:p>
            <a:pPr algn="ctr">
              <a:spcAft>
                <a:spcPts val="600"/>
              </a:spcAft>
            </a:pPr>
            <a:r>
              <a:rPr sz="1700" b="1" i="0">
                <a:solidFill>
                  <a:srgbClr val="051C2C"/>
                </a:solidFill>
                <a:latin typeface="Calibri"/>
              </a:rPr>
              <a:t>A Yoana no le falta información: le falta darse cuenta a tiempo de que su bienestar está cambiando.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251FF"/>
                </a:solidFill>
                <a:latin typeface="Calibri"/>
              </a:rPr>
              <a:t>PARTE 2 · 3 MINUTOS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51C2C"/>
                </a:solidFill>
                <a:latin typeface="Trebuchet MS"/>
              </a:rPr>
              <a:t>La solución en vivo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B6B7F"/>
                </a:solidFill>
                <a:latin typeface="Calibri"/>
              </a:rPr>
              <a:t>Hackathon de Salud Mental con IA · UCV · Pitch del equipo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5B6B7F"/>
                </a:solidFill>
                <a:latin typeface="Calibri"/>
              </a:rPr>
              <a:t>3/5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4754880" cy="4754880"/>
          </a:xfrm>
          <a:prstGeom prst="roundRect">
            <a:avLst>
              <a:gd name="adj" fmla="val 6000"/>
            </a:avLst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29768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 dirty="0" err="1">
                <a:solidFill>
                  <a:srgbClr val="00A9F4"/>
                </a:solidFill>
                <a:latin typeface="Calibri"/>
              </a:rPr>
              <a:t>Presenta</a:t>
            </a:r>
            <a:r>
              <a:rPr sz="1600" b="1" i="0" dirty="0">
                <a:solidFill>
                  <a:srgbClr val="00A9F4"/>
                </a:solidFill>
                <a:latin typeface="Calibri"/>
              </a:rPr>
              <a:t>: </a:t>
            </a:r>
            <a:r>
              <a:rPr lang="es-ES" sz="1600" b="1" dirty="0">
                <a:solidFill>
                  <a:srgbClr val="00A9F4"/>
                </a:solidFill>
                <a:latin typeface="Calibri"/>
              </a:rPr>
              <a:t>Ximena Urrutia </a:t>
            </a:r>
            <a:r>
              <a:rPr sz="1600" b="1" i="0" dirty="0">
                <a:solidFill>
                  <a:srgbClr val="00A9F4"/>
                </a:solidFill>
                <a:latin typeface="Calibri"/>
              </a:rPr>
              <a:t>(conductor + </a:t>
            </a:r>
            <a:r>
              <a:rPr sz="1600" b="1" i="0" dirty="0" err="1">
                <a:solidFill>
                  <a:srgbClr val="00A9F4"/>
                </a:solidFill>
                <a:latin typeface="Calibri"/>
              </a:rPr>
              <a:t>narrador</a:t>
            </a:r>
            <a:r>
              <a:rPr sz="1600" b="1" i="0" dirty="0">
                <a:solidFill>
                  <a:srgbClr val="00A9F4"/>
                </a:solidFill>
                <a:latin typeface="Calibri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429768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 i="0">
                <a:solidFill>
                  <a:srgbClr val="2251FF"/>
                </a:solidFill>
                <a:latin typeface="Calibri"/>
              </a:rPr>
              <a:t>0:00 </a:t>
            </a:r>
            <a:r>
              <a:rPr sz="1500" b="1" i="0">
                <a:solidFill>
                  <a:srgbClr val="051C2C"/>
                </a:solidFill>
                <a:latin typeface="Calibri"/>
              </a:rPr>
              <a:t>Está publicada: </a:t>
            </a:r>
            <a:r>
              <a:rPr sz="1500" b="0" i="0">
                <a:solidFill>
                  <a:srgbClr val="2B3A4A"/>
                </a:solidFill>
                <a:latin typeface="Calibri"/>
              </a:rPr>
              <a:t>[enlace de la app]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2251FF"/>
                </a:solidFill>
                <a:latin typeface="Calibri"/>
              </a:rPr>
              <a:t>0:20 </a:t>
            </a:r>
            <a:r>
              <a:rPr sz="1500" b="1" i="0">
                <a:solidFill>
                  <a:srgbClr val="051C2C"/>
                </a:solidFill>
                <a:latin typeface="Calibri"/>
              </a:rPr>
              <a:t>Registro: </a:t>
            </a:r>
            <a:r>
              <a:rPr sz="1500" b="0" i="0">
                <a:solidFill>
                  <a:srgbClr val="2B3A4A"/>
                </a:solidFill>
                <a:latin typeface="Calibri"/>
              </a:rPr>
              <a:t>Yoana nombra su emoción y su intensidad, tocando o con la voz.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2251FF"/>
                </a:solidFill>
                <a:latin typeface="Calibri"/>
              </a:rPr>
              <a:t>1:10 </a:t>
            </a:r>
            <a:r>
              <a:rPr sz="1500" b="1" i="0">
                <a:solidFill>
                  <a:srgbClr val="051C2C"/>
                </a:solidFill>
                <a:latin typeface="Calibri"/>
              </a:rPr>
              <a:t>Su momento de calma: </a:t>
            </a:r>
            <a:r>
              <a:rPr sz="1500" b="0" i="0">
                <a:solidFill>
                  <a:srgbClr val="2B3A4A"/>
                </a:solidFill>
                <a:latin typeface="Calibri"/>
              </a:rPr>
              <a:t>la IA no diagnostica; le propone un ejercicio y un paso pequeño.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2251FF"/>
                </a:solidFill>
                <a:latin typeface="Calibri"/>
              </a:rPr>
              <a:t>2:00 </a:t>
            </a:r>
            <a:r>
              <a:rPr sz="1500" b="1" i="0">
                <a:solidFill>
                  <a:srgbClr val="051C2C"/>
                </a:solidFill>
                <a:latin typeface="Calibri"/>
              </a:rPr>
              <a:t>Su semana: </a:t>
            </a:r>
            <a:r>
              <a:rPr sz="1500" b="0" i="0">
                <a:solidFill>
                  <a:srgbClr val="2B3A4A"/>
                </a:solidFill>
                <a:latin typeface="Calibri"/>
              </a:rPr>
              <a:t>lo que registró quedó guardado en Progreso.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2251FF"/>
                </a:solidFill>
                <a:latin typeface="Calibri"/>
              </a:rPr>
              <a:t>2:40 </a:t>
            </a:r>
            <a:r>
              <a:rPr sz="1500" b="1" i="0">
                <a:solidFill>
                  <a:srgbClr val="051C2C"/>
                </a:solidFill>
                <a:latin typeface="Calibri"/>
              </a:rPr>
              <a:t>Momento wow: </a:t>
            </a:r>
            <a:r>
              <a:rPr sz="1500" b="0" i="0">
                <a:solidFill>
                  <a:srgbClr val="2B3A4A"/>
                </a:solidFill>
                <a:latin typeface="Calibri"/>
              </a:rPr>
              <a:t>Pulso nota que desde el lunes se desvela y le dice «notamos cambios importantes».</a:t>
            </a:r>
          </a:p>
          <a:p>
            <a:pPr>
              <a:spcAft>
                <a:spcPts val="700"/>
              </a:spcAft>
            </a:pPr>
            <a:r>
              <a:rPr sz="1200" b="0" i="0">
                <a:solidFill>
                  <a:srgbClr val="5B6B7F"/>
                </a:solidFill>
                <a:latin typeface="Calibri"/>
              </a:rPr>
              <a:t>El conductor maneja y no habla; el narrador cuenta a Yoana en tercera persona.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1463040"/>
            <a:ext cx="6035040" cy="4754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9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registr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385" y="1645920"/>
            <a:ext cx="1869975" cy="4049120"/>
          </a:xfrm>
          <a:prstGeom prst="rect">
            <a:avLst/>
          </a:prstGeom>
          <a:ln w="9525">
            <a:solidFill>
              <a:srgbClr val="C9D6E6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315385" y="5735040"/>
            <a:ext cx="2269975" cy="3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5B6B7F"/>
                </a:solidFill>
                <a:latin typeface="Calibri"/>
              </a:rPr>
              <a:t>Registro emocional</a:t>
            </a:r>
          </a:p>
        </p:txBody>
      </p:sp>
      <p:pic>
        <p:nvPicPr>
          <p:cNvPr id="12" name="Picture 11" descr="inici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5360" y="1645920"/>
            <a:ext cx="1869975" cy="4049120"/>
          </a:xfrm>
          <a:prstGeom prst="rect">
            <a:avLst/>
          </a:prstGeom>
          <a:ln w="9525">
            <a:solidFill>
              <a:srgbClr val="C9D6E6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8605360" y="5735040"/>
            <a:ext cx="2269975" cy="3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5B6B7F"/>
                </a:solidFill>
                <a:latin typeface="Calibri"/>
              </a:rPr>
              <a:t>Su momento de calma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251FF"/>
                </a:solidFill>
                <a:latin typeface="Calibri"/>
              </a:rPr>
              <a:t>PARTE 3 · 2 MINUTOS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51C2C"/>
                </a:solidFill>
                <a:latin typeface="Trebuchet MS"/>
              </a:rPr>
              <a:t>Cómo cuidamos a las personas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B6B7F"/>
                </a:solidFill>
                <a:latin typeface="Calibri"/>
              </a:rPr>
              <a:t>Hackathon de Salud Mental con IA · UCV · Pitch del equipo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5B6B7F"/>
                </a:solidFill>
                <a:latin typeface="Calibri"/>
              </a:rPr>
              <a:t>4/5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4754880" cy="4754880"/>
          </a:xfrm>
          <a:prstGeom prst="roundRect">
            <a:avLst>
              <a:gd name="adj" fmla="val 6000"/>
            </a:avLst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29768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 dirty="0" err="1">
                <a:solidFill>
                  <a:srgbClr val="051C2C"/>
                </a:solidFill>
                <a:latin typeface="Calibri"/>
              </a:rPr>
              <a:t>Presenta</a:t>
            </a:r>
            <a:r>
              <a:rPr sz="1600" b="1" i="0" dirty="0">
                <a:solidFill>
                  <a:srgbClr val="051C2C"/>
                </a:solidFill>
                <a:latin typeface="Calibri"/>
              </a:rPr>
              <a:t>:</a:t>
            </a:r>
            <a:r>
              <a:rPr lang="es-ES" sz="1600" b="1" i="0" dirty="0">
                <a:solidFill>
                  <a:srgbClr val="051C2C"/>
                </a:solidFill>
                <a:latin typeface="Calibri"/>
              </a:rPr>
              <a:t> Jonathan Roque </a:t>
            </a:r>
            <a:r>
              <a:rPr sz="1600" b="1" i="0" dirty="0">
                <a:solidFill>
                  <a:srgbClr val="051C2C"/>
                </a:solidFill>
                <a:latin typeface="Calibri"/>
              </a:rPr>
              <a:t>(</a:t>
            </a:r>
            <a:r>
              <a:rPr sz="1600" b="1" i="0" dirty="0" err="1">
                <a:solidFill>
                  <a:srgbClr val="051C2C"/>
                </a:solidFill>
                <a:latin typeface="Calibri"/>
              </a:rPr>
              <a:t>líder</a:t>
            </a:r>
            <a:r>
              <a:rPr sz="1600" b="1" i="0" dirty="0">
                <a:solidFill>
                  <a:srgbClr val="051C2C"/>
                </a:solidFill>
                <a:latin typeface="Calibri"/>
              </a:rPr>
              <a:t> </a:t>
            </a:r>
            <a:r>
              <a:rPr sz="1600" b="1" i="0" dirty="0" err="1">
                <a:solidFill>
                  <a:srgbClr val="051C2C"/>
                </a:solidFill>
                <a:latin typeface="Calibri"/>
              </a:rPr>
              <a:t>clínico</a:t>
            </a:r>
            <a:r>
              <a:rPr sz="1600" b="1" i="0" dirty="0">
                <a:solidFill>
                  <a:srgbClr val="051C2C"/>
                </a:solidFill>
                <a:latin typeface="Calibri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429768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 i="0">
                <a:solidFill>
                  <a:srgbClr val="2251FF"/>
                </a:solidFill>
                <a:latin typeface="Calibri"/>
              </a:rPr>
              <a:t>«Pulso acompaña, pero sabe cuándo frenar.»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051C2C"/>
                </a:solidFill>
                <a:latin typeface="Calibri"/>
              </a:rPr>
              <a:t>1. Datos ficticios: </a:t>
            </a:r>
            <a:r>
              <a:rPr sz="1500" b="0" i="0">
                <a:solidFill>
                  <a:srgbClr val="2B3A4A"/>
                </a:solidFill>
                <a:latin typeface="Calibri"/>
              </a:rPr>
              <a:t>Yoana y los datos de la demo son inventados; el uso del teléfono es simulado.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051C2C"/>
                </a:solidFill>
                <a:latin typeface="Calibri"/>
              </a:rPr>
              <a:t>2. Apoya, no diagnostica: </a:t>
            </a:r>
            <a:r>
              <a:rPr sz="1500" b="0" i="0">
                <a:solidFill>
                  <a:srgbClr val="2B3A4A"/>
                </a:solidFill>
                <a:latin typeface="Calibri"/>
              </a:rPr>
              <a:t>habla de señales, nunca nombra un trastorno.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051C2C"/>
                </a:solidFill>
                <a:latin typeface="Calibri"/>
              </a:rPr>
              <a:t>3. Deriva: </a:t>
            </a:r>
            <a:r>
              <a:rPr sz="1500" b="0" i="0">
                <a:solidFill>
                  <a:srgbClr val="2B3A4A"/>
                </a:solidFill>
                <a:latin typeface="Calibri"/>
              </a:rPr>
              <a:t>con nivel de atención medio o alto, sugiere hablar con un profesional.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2251FF"/>
                </a:solidFill>
                <a:latin typeface="Calibri"/>
              </a:rPr>
              <a:t>Lo que NO hace: </a:t>
            </a:r>
            <a:r>
              <a:rPr sz="1500" b="0" i="0">
                <a:solidFill>
                  <a:srgbClr val="2B3A4A"/>
                </a:solidFill>
                <a:latin typeface="Calibri"/>
              </a:rPr>
              <a:t>no diagnostica, no reemplaza a un psicólogo, no usa datos reales y no guarda la ubicación.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2251FF"/>
                </a:solidFill>
                <a:latin typeface="Calibri"/>
              </a:rPr>
              <a:t>Revisado por: </a:t>
            </a:r>
            <a:r>
              <a:rPr sz="1500" b="0" i="0">
                <a:solidFill>
                  <a:srgbClr val="2B3A4A"/>
                </a:solidFill>
                <a:latin typeface="Calibri"/>
              </a:rPr>
              <a:t>[mentor] · umbrales por validar con un profesional.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1463040"/>
            <a:ext cx="6035040" cy="4754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9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us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385" y="1645920"/>
            <a:ext cx="1869975" cy="4049120"/>
          </a:xfrm>
          <a:prstGeom prst="rect">
            <a:avLst/>
          </a:prstGeom>
          <a:ln w="9525">
            <a:solidFill>
              <a:srgbClr val="C9D6E6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315385" y="5735040"/>
            <a:ext cx="2269975" cy="3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5B6B7F"/>
                </a:solidFill>
                <a:latin typeface="Calibri"/>
              </a:rPr>
              <a:t>Señales, no diagnósticos</a:t>
            </a:r>
          </a:p>
        </p:txBody>
      </p:sp>
      <p:pic>
        <p:nvPicPr>
          <p:cNvPr id="12" name="Picture 11" descr="progres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5360" y="1645920"/>
            <a:ext cx="1869975" cy="4049120"/>
          </a:xfrm>
          <a:prstGeom prst="rect">
            <a:avLst/>
          </a:prstGeom>
          <a:ln w="9525">
            <a:solidFill>
              <a:srgbClr val="C9D6E6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8605360" y="5735040"/>
            <a:ext cx="2269975" cy="3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5B6B7F"/>
                </a:solidFill>
                <a:latin typeface="Calibri"/>
              </a:rPr>
              <a:t>Su progreso emocional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251FF"/>
                </a:solidFill>
                <a:latin typeface="Calibri"/>
              </a:rPr>
              <a:t>PARTE 4 · 1 MINUTO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51C2C"/>
                </a:solidFill>
                <a:latin typeface="Trebuchet MS"/>
              </a:rPr>
              <a:t>Qué sigue para nuestra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B6B7F"/>
                </a:solidFill>
                <a:latin typeface="Calibri"/>
              </a:rPr>
              <a:t>Hackathon de Salud Mental con IA · UCV · Pitch del equipo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5B6B7F"/>
                </a:solidFill>
                <a:latin typeface="Calibri"/>
              </a:rPr>
              <a:t>5/5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4754880" cy="4754880"/>
          </a:xfrm>
          <a:prstGeom prst="roundRect">
            <a:avLst>
              <a:gd name="adj" fmla="val 6000"/>
            </a:avLst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29768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 dirty="0" err="1">
                <a:solidFill>
                  <a:srgbClr val="2251FF"/>
                </a:solidFill>
                <a:latin typeface="Calibri"/>
              </a:rPr>
              <a:t>Presenta</a:t>
            </a:r>
            <a:r>
              <a:rPr sz="1600" b="1" i="0" dirty="0">
                <a:solidFill>
                  <a:srgbClr val="2251FF"/>
                </a:solidFill>
                <a:latin typeface="Calibri"/>
              </a:rPr>
              <a:t>:</a:t>
            </a:r>
            <a:r>
              <a:rPr lang="es-ES" sz="1600" b="1" i="0" dirty="0">
                <a:solidFill>
                  <a:srgbClr val="2251FF"/>
                </a:solidFill>
                <a:latin typeface="Calibri"/>
              </a:rPr>
              <a:t> </a:t>
            </a:r>
            <a:r>
              <a:rPr lang="es-ES" sz="1600" b="1" dirty="0">
                <a:solidFill>
                  <a:srgbClr val="2251FF"/>
                </a:solidFill>
                <a:latin typeface="Calibri"/>
              </a:rPr>
              <a:t>Jherson </a:t>
            </a:r>
            <a:r>
              <a:rPr lang="es-ES" sz="1600" b="1" dirty="0" err="1">
                <a:solidFill>
                  <a:srgbClr val="2251FF"/>
                </a:solidFill>
                <a:latin typeface="Calibri"/>
              </a:rPr>
              <a:t>Garcia</a:t>
            </a:r>
            <a:r>
              <a:rPr lang="es-ES" sz="1600" b="1" dirty="0">
                <a:solidFill>
                  <a:srgbClr val="2251FF"/>
                </a:solidFill>
                <a:latin typeface="Calibri"/>
              </a:rPr>
              <a:t> </a:t>
            </a:r>
            <a:r>
              <a:rPr sz="1600" b="1" i="0" dirty="0">
                <a:solidFill>
                  <a:srgbClr val="2251FF"/>
                </a:solidFill>
                <a:latin typeface="Calibri"/>
              </a:rPr>
              <a:t>(</a:t>
            </a:r>
            <a:r>
              <a:rPr sz="1600" b="1" i="0" dirty="0" err="1">
                <a:solidFill>
                  <a:srgbClr val="2251FF"/>
                </a:solidFill>
                <a:latin typeface="Calibri"/>
              </a:rPr>
              <a:t>diseño</a:t>
            </a:r>
            <a:r>
              <a:rPr sz="1600" b="1" i="0" dirty="0">
                <a:solidFill>
                  <a:srgbClr val="2251FF"/>
                </a:solidFill>
                <a:latin typeface="Calibri"/>
              </a:rPr>
              <a:t> y </a:t>
            </a:r>
            <a:r>
              <a:rPr sz="1600" b="1" i="0" dirty="0" err="1">
                <a:solidFill>
                  <a:srgbClr val="2251FF"/>
                </a:solidFill>
                <a:latin typeface="Calibri"/>
              </a:rPr>
              <a:t>datos</a:t>
            </a:r>
            <a:r>
              <a:rPr sz="1600" b="1" i="0" dirty="0">
                <a:solidFill>
                  <a:srgbClr val="2251FF"/>
                </a:solidFill>
                <a:latin typeface="Calibri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429768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1" i="0">
                <a:solidFill>
                  <a:srgbClr val="2251FF"/>
                </a:solidFill>
                <a:latin typeface="Calibri"/>
              </a:rPr>
              <a:t>1. Lo que dejamos fuera, a propósito: </a:t>
            </a:r>
            <a:r>
              <a:rPr sz="1500" b="0" i="0">
                <a:solidFill>
                  <a:srgbClr val="2B3A4A"/>
                </a:solidFill>
                <a:latin typeface="Calibri"/>
              </a:rPr>
              <a:t>diagnóstico automático, historias clínicas y sensores. Decidimos hacer una cosa bien.</a:t>
            </a:r>
          </a:p>
          <a:p>
            <a:pPr>
              <a:spcAft>
                <a:spcPts val="1200"/>
              </a:spcAft>
            </a:pPr>
            <a:r>
              <a:rPr sz="1500" b="1" i="0">
                <a:solidFill>
                  <a:srgbClr val="2251FF"/>
                </a:solidFill>
                <a:latin typeface="Calibri"/>
              </a:rPr>
              <a:t>2. Nuestra petición: </a:t>
            </a:r>
            <a:r>
              <a:rPr sz="1500" b="0" i="0">
                <a:solidFill>
                  <a:srgbClr val="2B3A4A"/>
                </a:solidFill>
                <a:latin typeface="Calibri"/>
              </a:rPr>
              <a:t>pedimos a Bienestar UCV un piloto de 4 semanas con una facultad, con textos y umbrales revisados por un psicólogo.</a:t>
            </a:r>
          </a:p>
          <a:p>
            <a:pPr>
              <a:spcAft>
                <a:spcPts val="1200"/>
              </a:spcAft>
            </a:pPr>
            <a:r>
              <a:rPr sz="1500" b="1" i="0">
                <a:solidFill>
                  <a:srgbClr val="2251FF"/>
                </a:solidFill>
                <a:latin typeface="Calibri"/>
              </a:rPr>
              <a:t>3. Qué mediremos: </a:t>
            </a:r>
            <a:r>
              <a:rPr sz="1500" b="0" i="0">
                <a:solidFill>
                  <a:srgbClr val="2B3A4A"/>
                </a:solidFill>
                <a:latin typeface="Calibri"/>
              </a:rPr>
              <a:t>que el 80 % complete el registro y reciba una recomendación en menos de 2 minutos (meta, aún no comprobada).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1463040"/>
            <a:ext cx="6035040" cy="4754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9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77840" y="2063040"/>
            <a:ext cx="5235040" cy="36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1400" b="1" i="0">
                <a:solidFill>
                  <a:srgbClr val="2251FF"/>
                </a:solidFill>
                <a:latin typeface="Calibri"/>
              </a:rPr>
              <a:t>CIERRE · LÍDER CLÍNICO</a:t>
            </a:r>
          </a:p>
          <a:p>
            <a:pPr>
              <a:spcAft>
                <a:spcPts val="1400"/>
              </a:spcAft>
            </a:pPr>
            <a:r>
              <a:rPr sz="2400" b="1" i="0">
                <a:solidFill>
                  <a:srgbClr val="051C2C"/>
                </a:solidFill>
                <a:latin typeface="Trebuchet MS"/>
              </a:rPr>
              <a:t>«Yoana no necesitaba otra app. Necesitaba darse cuenta a tiempo.</a:t>
            </a:r>
          </a:p>
          <a:p>
            <a:pPr>
              <a:spcAft>
                <a:spcPts val="1400"/>
              </a:spcAft>
            </a:pPr>
            <a:r>
              <a:rPr sz="2400" b="1" i="0">
                <a:solidFill>
                  <a:srgbClr val="2251FF"/>
                </a:solidFill>
                <a:latin typeface="Trebuchet MS"/>
              </a:rPr>
              <a:t>Tiburones: con Pulso, la próxima Yoana no espera a estar agotada. Gracias.»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1001</Words>
  <Application>Microsoft Office PowerPoint</Application>
  <PresentationFormat>Panorámica</PresentationFormat>
  <Paragraphs>60</Paragraphs>
  <Slides>5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Arial</vt:lpstr>
      <vt:lpstr>Calibri</vt:lpstr>
      <vt:lpstr>Trebuchet MS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UCV</cp:lastModifiedBy>
  <cp:revision>3</cp:revision>
  <dcterms:created xsi:type="dcterms:W3CDTF">2013-01-27T09:14:16Z</dcterms:created>
  <dcterms:modified xsi:type="dcterms:W3CDTF">2026-10-10T16:02:20Z</dcterms:modified>
  <cp:category/>
</cp:coreProperties>
</file>